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Chiffre d'affaires (M FCFA)</c:v>
                </c:pt>
              </c:strCache>
            </c:strRef>
          </c:tx>
          <c:spPr>
            <a:solidFill>
              <a:srgbClr val="0D7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 1</c:v>
                </c:pt>
                <c:pt idx="1">
                  <c:v>An 2</c:v>
                </c:pt>
                <c:pt idx="2">
                  <c:v>An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27.5</c:v>
                </c:pt>
                <c:pt idx="1">
                  <c:v>58</c:v>
                </c:pt>
                <c:pt idx="2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69-4538-8D64-1FC988CC29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Coûts totaux (M FCFA)</c:v>
                </c:pt>
              </c:strCache>
            </c:strRef>
          </c:tx>
          <c:spPr>
            <a:solidFill>
              <a:srgbClr val="BBDDD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 1</c:v>
                </c:pt>
                <c:pt idx="1">
                  <c:v>An 2</c:v>
                </c:pt>
                <c:pt idx="2">
                  <c:v>An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38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69-4538-8D64-1FC988CC29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66391d9-ad90-4667-a157-def83348b7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26" Type="http://schemas.openxmlformats.org/officeDocument/2006/relationships/tags" Target="../tags/tag42.xml"/><Relationship Id="rId39" Type="http://schemas.openxmlformats.org/officeDocument/2006/relationships/tags" Target="../tags/tag55.xml"/><Relationship Id="rId21" Type="http://schemas.openxmlformats.org/officeDocument/2006/relationships/tags" Target="../tags/tag37.xml"/><Relationship Id="rId34" Type="http://schemas.openxmlformats.org/officeDocument/2006/relationships/tags" Target="../tags/tag50.xml"/><Relationship Id="rId42" Type="http://schemas.openxmlformats.org/officeDocument/2006/relationships/notesSlide" Target="../notesSlides/notesSlide2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29" Type="http://schemas.openxmlformats.org/officeDocument/2006/relationships/tags" Target="../tags/tag45.xml"/><Relationship Id="rId41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tags" Target="../tags/tag40.xml"/><Relationship Id="rId32" Type="http://schemas.openxmlformats.org/officeDocument/2006/relationships/tags" Target="../tags/tag48.xml"/><Relationship Id="rId37" Type="http://schemas.openxmlformats.org/officeDocument/2006/relationships/tags" Target="../tags/tag53.xml"/><Relationship Id="rId40" Type="http://schemas.openxmlformats.org/officeDocument/2006/relationships/tags" Target="../tags/tag56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tags" Target="../tags/tag39.xml"/><Relationship Id="rId28" Type="http://schemas.openxmlformats.org/officeDocument/2006/relationships/tags" Target="../tags/tag44.xml"/><Relationship Id="rId36" Type="http://schemas.openxmlformats.org/officeDocument/2006/relationships/tags" Target="../tags/tag52.xml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31" Type="http://schemas.openxmlformats.org/officeDocument/2006/relationships/tags" Target="../tags/tag47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tags" Target="../tags/tag38.xml"/><Relationship Id="rId27" Type="http://schemas.openxmlformats.org/officeDocument/2006/relationships/tags" Target="../tags/tag43.xml"/><Relationship Id="rId30" Type="http://schemas.openxmlformats.org/officeDocument/2006/relationships/tags" Target="../tags/tag46.xml"/><Relationship Id="rId35" Type="http://schemas.openxmlformats.org/officeDocument/2006/relationships/tags" Target="../tags/tag51.xml"/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tags" Target="../tags/tag41.xml"/><Relationship Id="rId33" Type="http://schemas.openxmlformats.org/officeDocument/2006/relationships/tags" Target="../tags/tag49.xml"/><Relationship Id="rId38" Type="http://schemas.openxmlformats.org/officeDocument/2006/relationships/tags" Target="../tags/tag5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321808" cy="51435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11480" y="365760"/>
            <a:ext cx="1005840" cy="1005840"/>
          </a:xfrm>
          <a:prstGeom prst="ellipse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2648" y="56692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463040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1920240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PLAN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2286000"/>
            <a:ext cx="49377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320040" y="3273552"/>
            <a:ext cx="49377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L'IA agricole au cœur du champ africain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370332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A3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Laafi Box · Application Mobile · Géodatabase locale</a:t>
            </a:r>
            <a:endParaRPr lang="en-US" sz="1000" dirty="0"/>
          </a:p>
        </p:txBody>
      </p:sp>
      <p:sp>
        <p:nvSpPr>
          <p:cNvPr id="11" name="Shape 8"/>
          <p:cNvSpPr/>
          <p:nvPr>
            <p:custDataLst>
              <p:tags r:id="rId1"/>
            </p:custDataLst>
          </p:nvPr>
        </p:nvSpPr>
        <p:spPr>
          <a:xfrm>
            <a:off x="5760720" y="457200"/>
            <a:ext cx="3063240" cy="914400"/>
          </a:xfrm>
          <a:prstGeom prst="rect">
            <a:avLst/>
          </a:prstGeom>
          <a:solidFill>
            <a:srgbClr val="1A4A38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>
            <p:custDataLst>
              <p:tags r:id="rId2"/>
            </p:custDataLst>
          </p:nvPr>
        </p:nvSpPr>
        <p:spPr>
          <a:xfrm>
            <a:off x="5760720" y="457200"/>
            <a:ext cx="64008" cy="914400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>
            <p:custDataLst>
              <p:tags r:id="rId3"/>
            </p:custDataLst>
          </p:nvPr>
        </p:nvSpPr>
        <p:spPr>
          <a:xfrm>
            <a:off x="5897880" y="548640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M</a:t>
            </a:r>
            <a:endParaRPr lang="en-US" sz="2200" dirty="0"/>
          </a:p>
        </p:txBody>
      </p:sp>
      <p:sp>
        <p:nvSpPr>
          <p:cNvPr id="14" name="Text 11"/>
          <p:cNvSpPr/>
          <p:nvPr>
            <p:custDataLst>
              <p:tags r:id="rId4"/>
            </p:custDataLst>
          </p:nvPr>
        </p:nvSpPr>
        <p:spPr>
          <a:xfrm>
            <a:off x="5897880" y="987552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Exploitations cibles au Burkina Faso</a:t>
            </a:r>
            <a:endParaRPr lang="en-US" sz="900" dirty="0"/>
          </a:p>
        </p:txBody>
      </p:sp>
      <p:sp>
        <p:nvSpPr>
          <p:cNvPr id="15" name="Shape 12"/>
          <p:cNvSpPr/>
          <p:nvPr>
            <p:custDataLst>
              <p:tags r:id="rId5"/>
            </p:custDataLst>
          </p:nvPr>
        </p:nvSpPr>
        <p:spPr>
          <a:xfrm>
            <a:off x="5760720" y="1554480"/>
            <a:ext cx="3063240" cy="914400"/>
          </a:xfrm>
          <a:prstGeom prst="rect">
            <a:avLst/>
          </a:prstGeom>
          <a:solidFill>
            <a:srgbClr val="1A4A38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>
            <p:custDataLst>
              <p:tags r:id="rId6"/>
            </p:custDataLst>
          </p:nvPr>
        </p:nvSpPr>
        <p:spPr>
          <a:xfrm>
            <a:off x="5760720" y="1554480"/>
            <a:ext cx="64008" cy="914400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>
            <p:custDataLst>
              <p:tags r:id="rId7"/>
            </p:custDataLst>
          </p:nvPr>
        </p:nvSpPr>
        <p:spPr>
          <a:xfrm>
            <a:off x="5897880" y="1645920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M FCFA</a:t>
            </a:r>
            <a:endParaRPr lang="en-US" sz="2200" dirty="0"/>
          </a:p>
        </p:txBody>
      </p:sp>
      <p:sp>
        <p:nvSpPr>
          <p:cNvPr id="18" name="Text 15"/>
          <p:cNvSpPr/>
          <p:nvPr>
            <p:custDataLst>
              <p:tags r:id="rId8"/>
            </p:custDataLst>
          </p:nvPr>
        </p:nvSpPr>
        <p:spPr>
          <a:xfrm>
            <a:off x="5897880" y="2084832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Investissement initial</a:t>
            </a:r>
            <a:endParaRPr lang="en-US" sz="900" dirty="0"/>
          </a:p>
        </p:txBody>
      </p:sp>
      <p:sp>
        <p:nvSpPr>
          <p:cNvPr id="19" name="Shape 16"/>
          <p:cNvSpPr/>
          <p:nvPr>
            <p:custDataLst>
              <p:tags r:id="rId9"/>
            </p:custDataLst>
          </p:nvPr>
        </p:nvSpPr>
        <p:spPr>
          <a:xfrm>
            <a:off x="5760720" y="2651760"/>
            <a:ext cx="3063240" cy="914400"/>
          </a:xfrm>
          <a:prstGeom prst="rect">
            <a:avLst/>
          </a:prstGeom>
          <a:solidFill>
            <a:srgbClr val="1A4A38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>
            <p:custDataLst>
              <p:tags r:id="rId10"/>
            </p:custDataLst>
          </p:nvPr>
        </p:nvSpPr>
        <p:spPr>
          <a:xfrm>
            <a:off x="5760720" y="2651760"/>
            <a:ext cx="64008" cy="914400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>
            <p:custDataLst>
              <p:tags r:id="rId11"/>
            </p:custDataLst>
          </p:nvPr>
        </p:nvSpPr>
        <p:spPr>
          <a:xfrm>
            <a:off x="5897880" y="2743200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mois</a:t>
            </a:r>
            <a:endParaRPr lang="en-US" sz="2200" dirty="0"/>
          </a:p>
        </p:txBody>
      </p:sp>
      <p:sp>
        <p:nvSpPr>
          <p:cNvPr id="22" name="Text 19"/>
          <p:cNvSpPr/>
          <p:nvPr>
            <p:custDataLst>
              <p:tags r:id="rId12"/>
            </p:custDataLst>
          </p:nvPr>
        </p:nvSpPr>
        <p:spPr>
          <a:xfrm>
            <a:off x="5897880" y="3182112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Retour sur investissement estimé</a:t>
            </a:r>
            <a:endParaRPr lang="en-US" sz="900" dirty="0"/>
          </a:p>
        </p:txBody>
      </p:sp>
      <p:sp>
        <p:nvSpPr>
          <p:cNvPr id="23" name="Shape 20"/>
          <p:cNvSpPr/>
          <p:nvPr>
            <p:custDataLst>
              <p:tags r:id="rId13"/>
            </p:custDataLst>
          </p:nvPr>
        </p:nvSpPr>
        <p:spPr>
          <a:xfrm>
            <a:off x="5760720" y="3749040"/>
            <a:ext cx="3063240" cy="914400"/>
          </a:xfrm>
          <a:prstGeom prst="rect">
            <a:avLst/>
          </a:prstGeom>
          <a:solidFill>
            <a:srgbClr val="1A4A38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>
            <p:custDataLst>
              <p:tags r:id="rId14"/>
            </p:custDataLst>
          </p:nvPr>
        </p:nvSpPr>
        <p:spPr>
          <a:xfrm>
            <a:off x="5760720" y="3749040"/>
            <a:ext cx="64008" cy="914400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>
            <p:custDataLst>
              <p:tags r:id="rId15"/>
            </p:custDataLst>
          </p:nvPr>
        </p:nvSpPr>
        <p:spPr>
          <a:xfrm>
            <a:off x="5897880" y="3840480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40 %</a:t>
            </a:r>
            <a:endParaRPr lang="en-US" sz="2200" dirty="0"/>
          </a:p>
        </p:txBody>
      </p:sp>
      <p:sp>
        <p:nvSpPr>
          <p:cNvPr id="26" name="Text 23"/>
          <p:cNvSpPr/>
          <p:nvPr>
            <p:custDataLst>
              <p:tags r:id="rId16"/>
            </p:custDataLst>
          </p:nvPr>
        </p:nvSpPr>
        <p:spPr>
          <a:xfrm>
            <a:off x="5897880" y="4279392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Marge brute par Laafi Box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F18"/>
          </a:solidFill>
          <a:ln w="12700">
            <a:solidFill>
              <a:srgbClr val="091F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74320" y="4782312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Larissa Conseiga, Alfred BIAM, Aiman Koné &amp; Fayçal Nacoulma  ·  Ouagadougou, Burkina Faso  ·  Confidentiel — Mars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SOMMAIRE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du Business Plan</a:t>
            </a:r>
            <a:endParaRPr lang="en-US" sz="30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11480" y="11887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11480" y="1188720"/>
            <a:ext cx="457200" cy="74980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11480" y="1188720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960120" y="1252728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</a:t>
            </a:r>
            <a:r>
              <a:rPr lang="fr-FR" alt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 </a:t>
            </a: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</a:t>
            </a:r>
            <a:endParaRPr lang="en-US" sz="115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960120" y="1591056"/>
            <a:ext cx="34747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L'agriculture burkinabè sous tension</a:t>
            </a:r>
            <a:endParaRPr lang="en-US" sz="90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892040" y="11887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892040" y="1188720"/>
            <a:ext cx="457200" cy="74980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892040" y="1188720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5440680" y="1252728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Solution AgroLaafi</a:t>
            </a:r>
            <a:endParaRPr lang="en-US" sz="115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5440680" y="1591056"/>
            <a:ext cx="34747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Laafi Box </a:t>
            </a:r>
            <a:r>
              <a:rPr lang="fr-FR" alt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</a:t>
            </a: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Application mobile</a:t>
            </a:r>
            <a:endParaRPr lang="en-US" sz="9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411480" y="207568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411480" y="2075688"/>
            <a:ext cx="457200" cy="74980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411480" y="2075688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960120" y="2139696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embarquées</a:t>
            </a:r>
            <a:endParaRPr lang="en-US" sz="115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960120" y="2478024"/>
            <a:ext cx="34747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technique </a:t>
            </a:r>
            <a:r>
              <a:rPr lang="fr-FR" alt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</a:t>
            </a: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architecture</a:t>
            </a:r>
            <a:endParaRPr lang="en-US" sz="900" dirty="0"/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4892040" y="207568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4892040" y="2075688"/>
            <a:ext cx="457200" cy="74980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4892040" y="2075688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5440680" y="2139696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 de marché</a:t>
            </a:r>
            <a:endParaRPr lang="en-US" sz="115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5440680" y="2478024"/>
            <a:ext cx="34747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 · SAM · SOM</a:t>
            </a:r>
            <a:endParaRPr lang="en-US" sz="900" dirty="0"/>
          </a:p>
        </p:txBody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411480" y="296265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411480" y="2962656"/>
            <a:ext cx="457200" cy="74980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411480" y="2962656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960120" y="3026664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 économique</a:t>
            </a:r>
            <a:endParaRPr lang="en-US" sz="1150" dirty="0"/>
          </a:p>
        </p:txBody>
      </p:sp>
      <p:sp>
        <p:nvSpPr>
          <p:cNvPr id="29" name="Text 27"/>
          <p:cNvSpPr/>
          <p:nvPr>
            <p:custDataLst>
              <p:tags r:id="rId25"/>
            </p:custDataLst>
          </p:nvPr>
        </p:nvSpPr>
        <p:spPr>
          <a:xfrm>
            <a:off x="960120" y="3364992"/>
            <a:ext cx="34747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Stratégie de prix </a:t>
            </a:r>
            <a:r>
              <a:rPr lang="fr-FR" alt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</a:t>
            </a: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revenus</a:t>
            </a:r>
            <a:endParaRPr lang="en-US" sz="900" dirty="0"/>
          </a:p>
        </p:txBody>
      </p:sp>
      <p:sp>
        <p:nvSpPr>
          <p:cNvPr id="30" name="Shape 28"/>
          <p:cNvSpPr/>
          <p:nvPr>
            <p:custDataLst>
              <p:tags r:id="rId26"/>
            </p:custDataLst>
          </p:nvPr>
        </p:nvSpPr>
        <p:spPr>
          <a:xfrm>
            <a:off x="4892040" y="296265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>
            <p:custDataLst>
              <p:tags r:id="rId27"/>
            </p:custDataLst>
          </p:nvPr>
        </p:nvSpPr>
        <p:spPr>
          <a:xfrm>
            <a:off x="4892040" y="2962656"/>
            <a:ext cx="457200" cy="74980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4892040" y="2962656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>
            <p:custDataLst>
              <p:tags r:id="rId29"/>
            </p:custDataLst>
          </p:nvPr>
        </p:nvSpPr>
        <p:spPr>
          <a:xfrm>
            <a:off x="5440680" y="3026664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de développement</a:t>
            </a:r>
            <a:endParaRPr lang="en-US" sz="1150" dirty="0"/>
          </a:p>
        </p:txBody>
      </p:sp>
      <p:sp>
        <p:nvSpPr>
          <p:cNvPr id="34" name="Text 32"/>
          <p:cNvSpPr/>
          <p:nvPr>
            <p:custDataLst>
              <p:tags r:id="rId30"/>
            </p:custDataLst>
          </p:nvPr>
        </p:nvSpPr>
        <p:spPr>
          <a:xfrm>
            <a:off x="5440680" y="3364992"/>
            <a:ext cx="34747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phases sur 36 mois</a:t>
            </a:r>
            <a:endParaRPr lang="en-US" sz="900" dirty="0"/>
          </a:p>
        </p:txBody>
      </p:sp>
      <p:sp>
        <p:nvSpPr>
          <p:cNvPr id="35" name="Shape 33"/>
          <p:cNvSpPr/>
          <p:nvPr>
            <p:custDataLst>
              <p:tags r:id="rId31"/>
            </p:custDataLst>
          </p:nvPr>
        </p:nvSpPr>
        <p:spPr>
          <a:xfrm>
            <a:off x="411480" y="384962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>
            <p:custDataLst>
              <p:tags r:id="rId32"/>
            </p:custDataLst>
          </p:nvPr>
        </p:nvSpPr>
        <p:spPr>
          <a:xfrm>
            <a:off x="411480" y="3849624"/>
            <a:ext cx="457200" cy="74980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>
            <p:custDataLst>
              <p:tags r:id="rId33"/>
            </p:custDataLst>
          </p:nvPr>
        </p:nvSpPr>
        <p:spPr>
          <a:xfrm>
            <a:off x="411480" y="3849624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>
            <p:custDataLst>
              <p:tags r:id="rId34"/>
            </p:custDataLst>
          </p:nvPr>
        </p:nvSpPr>
        <p:spPr>
          <a:xfrm>
            <a:off x="960120" y="3913632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Projections financières</a:t>
            </a:r>
            <a:endParaRPr lang="en-US" sz="1150" dirty="0"/>
          </a:p>
        </p:txBody>
      </p:sp>
      <p:sp>
        <p:nvSpPr>
          <p:cNvPr id="39" name="Text 37"/>
          <p:cNvSpPr/>
          <p:nvPr>
            <p:custDataLst>
              <p:tags r:id="rId35"/>
            </p:custDataLst>
          </p:nvPr>
        </p:nvSpPr>
        <p:spPr>
          <a:xfrm>
            <a:off x="960120" y="4251960"/>
            <a:ext cx="34747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CA, coûts, rentabilité</a:t>
            </a:r>
            <a:endParaRPr lang="en-US" sz="900" dirty="0"/>
          </a:p>
        </p:txBody>
      </p:sp>
      <p:sp>
        <p:nvSpPr>
          <p:cNvPr id="40" name="Shape 38"/>
          <p:cNvSpPr/>
          <p:nvPr>
            <p:custDataLst>
              <p:tags r:id="rId36"/>
            </p:custDataLst>
          </p:nvPr>
        </p:nvSpPr>
        <p:spPr>
          <a:xfrm>
            <a:off x="4892040" y="384962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>
            <p:custDataLst>
              <p:tags r:id="rId37"/>
            </p:custDataLst>
          </p:nvPr>
        </p:nvSpPr>
        <p:spPr>
          <a:xfrm>
            <a:off x="4892040" y="3849624"/>
            <a:ext cx="457200" cy="74980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>
            <p:custDataLst>
              <p:tags r:id="rId38"/>
            </p:custDataLst>
          </p:nvPr>
        </p:nvSpPr>
        <p:spPr>
          <a:xfrm>
            <a:off x="4892040" y="3849624"/>
            <a:ext cx="4572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>
            <p:custDataLst>
              <p:tags r:id="rId39"/>
            </p:custDataLst>
          </p:nvPr>
        </p:nvSpPr>
        <p:spPr>
          <a:xfrm>
            <a:off x="5440680" y="3913632"/>
            <a:ext cx="347472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</a:t>
            </a:r>
            <a:r>
              <a:rPr lang="fr-FR" alt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</a:t>
            </a: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Conclusion</a:t>
            </a:r>
            <a:endParaRPr lang="en-US" sz="1150" dirty="0"/>
          </a:p>
        </p:txBody>
      </p:sp>
      <p:sp>
        <p:nvSpPr>
          <p:cNvPr id="44" name="Text 42"/>
          <p:cNvSpPr/>
          <p:nvPr>
            <p:custDataLst>
              <p:tags r:id="rId40"/>
            </p:custDataLst>
          </p:nvPr>
        </p:nvSpPr>
        <p:spPr>
          <a:xfrm>
            <a:off x="5440680" y="4251960"/>
            <a:ext cx="34747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Social, environnemental, vision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— CONTEXTE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secteur agricole sous haute tension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80 % de la population active  ·  30 % du PIB national  ·  2 millions d'exploitations familiales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2651760" cy="3154680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84048" y="1444752"/>
            <a:ext cx="2651760" cy="6400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627632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3776" y="2377440"/>
            <a:ext cx="243230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Désert d'encadrement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" y="2834640"/>
            <a:ext cx="237744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60 % des agriculteurs d'Afrique subsaharienne n'ont accès à aucune information agricole structurée en temps réel. (Source : Union Africaine)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36976" y="1444752"/>
            <a:ext cx="2651760" cy="3154680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36976" y="1444752"/>
            <a:ext cx="2651760" cy="64008"/>
          </a:xfrm>
          <a:prstGeom prst="rect">
            <a:avLst/>
          </a:prstGeom>
          <a:solidFill>
            <a:srgbClr val="1BA37A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1627632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46704" y="2377440"/>
            <a:ext cx="243230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financier massif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74136" y="2834640"/>
            <a:ext cx="237744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maladies des cultures représentent plus de 4 milliards de dollars de pertes par an sur le continent africain. (Source : Banque Mondiale)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9904" y="1444752"/>
            <a:ext cx="2651760" cy="3154680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089904" y="1444752"/>
            <a:ext cx="2651760" cy="6400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627632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99632" y="2377440"/>
            <a:ext cx="243230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Climat accélérateur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27064" y="2834640"/>
            <a:ext cx="237744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+2°C à +3°C au Sahel d'ici 2050. Les agents pathogènes mutent plus vite, rendant les savoirs agricoles traditionnels obsolètes.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—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Deux produits, une mission : l'IA pour chaque agriculteur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251960" cy="370332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251960" cy="82296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1161288"/>
            <a:ext cx="4069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  PRODUIT PHARE — LANCEMENT AN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463040"/>
            <a:ext cx="4069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Laafi Box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8912" y="1920240"/>
            <a:ext cx="4069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Appareil physique autonome — IA embarquée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  Caméra — diagnostic maladie par photo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🔊  Réponse vocale : Mooré, Dioula, Fulfuldé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 IA embarquée — zéro connexion requise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☀️  Autonomie : panneau solaire + batterie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📟  Écran — interface sans lecture nécessaire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39319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🌍  Fonctionne dans les zones les plus reculées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115568"/>
            <a:ext cx="40690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0" y="1115568"/>
            <a:ext cx="4069080" cy="82296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28032" y="1161288"/>
            <a:ext cx="39136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— COMPLÉMENT NUMÉRIQUE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28032" y="1463040"/>
            <a:ext cx="3913632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Mobile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28032" y="1920240"/>
            <a:ext cx="39136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Assistant connecté &amp; communautaire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37744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🗺️  Cartographie épidémies en temps réel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779776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 Communauté agriculteurs ↔ experts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18211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Fiches techniques avancées par région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584448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🔔  Alertes saisonnières personnalisées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98678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 Synchronisation avec les données Laafi Box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— TECHNOLOGIE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Laafi Box — Architecture technique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appareil robuste, conçu pour les conditions extrêmes du terrain sahélien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84048" y="1417320"/>
            <a:ext cx="64008" cy="14173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2704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527048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Processeur 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05740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ESP32-S3 ou Raspberry Pi Zero 2W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 Lite — inférence locale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36976" y="14173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3236976" y="1417320"/>
            <a:ext cx="64008" cy="1417320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527048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77056" y="1527048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Énergie autonome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01568" y="205740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Panneau solaire 5W + batterie LiPo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Autonomie 3 jours sans ensoleillement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9904" y="14173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6089904" y="1417320"/>
            <a:ext cx="64008" cy="14173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527048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9984" y="1527048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Interface vocale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54496" y="205740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Modèles Vosk offline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Mooré · Dioula · Fulfuldé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84048" y="30175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384048" y="3017520"/>
            <a:ext cx="64008" cy="1417320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27248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24128" y="3127248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Connectivité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365760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100 % hors ligne en mode usage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 BLE / SMS périodique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36976" y="30175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1"/>
          <p:cNvSpPr/>
          <p:nvPr/>
        </p:nvSpPr>
        <p:spPr>
          <a:xfrm>
            <a:off x="3236976" y="3017520"/>
            <a:ext cx="64008" cy="14173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127248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77056" y="3127248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Robustesse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401568" y="365760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Boîtier IP54 (poussière &amp; projections)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Opération : 0°C – 55°C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089904" y="3017520"/>
            <a:ext cx="26334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5"/>
          <p:cNvSpPr/>
          <p:nvPr/>
        </p:nvSpPr>
        <p:spPr>
          <a:xfrm>
            <a:off x="6089904" y="3017520"/>
            <a:ext cx="64008" cy="1417320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127248"/>
            <a:ext cx="402336" cy="40233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29984" y="3127248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 IA agricole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54496" y="3657600"/>
            <a:ext cx="2377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Fine-tuné sur données burkinabè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20+ maladies des cultures locales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29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— MARCHÉ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marché immense, encore vierge de solutions adaptées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3657600"/>
          </a:xfrm>
          <a:prstGeom prst="ellipse">
            <a:avLst/>
          </a:prstGeom>
          <a:solidFill>
            <a:srgbClr val="0D7A5F">
              <a:alpha val="4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325880" y="1874520"/>
            <a:ext cx="2468880" cy="2468880"/>
          </a:xfrm>
          <a:prstGeom prst="ellipse">
            <a:avLst/>
          </a:prstGeom>
          <a:solidFill>
            <a:srgbClr val="1BA37A">
              <a:alpha val="6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74520" y="2423160"/>
            <a:ext cx="1371600" cy="1371600"/>
          </a:xfrm>
          <a:prstGeom prst="ellipse">
            <a:avLst/>
          </a:prstGeom>
          <a:solidFill>
            <a:srgbClr val="7EC84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965960" y="2651760"/>
            <a:ext cx="1188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 u.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74920" y="1097280"/>
            <a:ext cx="3703320" cy="804672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074920" y="1097280"/>
            <a:ext cx="64008" cy="804672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212080" y="1143000"/>
            <a:ext cx="3429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1371600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2 000 000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673352"/>
            <a:ext cx="3429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Exploitations familiales — Burkina Faso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74920" y="2057400"/>
            <a:ext cx="3703320" cy="804672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074920" y="2057400"/>
            <a:ext cx="64008" cy="804672"/>
          </a:xfrm>
          <a:prstGeom prst="rect">
            <a:avLst/>
          </a:prstGeom>
          <a:solidFill>
            <a:srgbClr val="1BA37A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429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A3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0" y="2331720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600 000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2633472"/>
            <a:ext cx="3429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Foyers accessibles via ONG &amp; coopératives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74920" y="3017520"/>
            <a:ext cx="3703320" cy="804672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074920" y="3017520"/>
            <a:ext cx="64008" cy="804672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212080" y="3063240"/>
            <a:ext cx="3429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 An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3291840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 unités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3593592"/>
            <a:ext cx="3429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Laafi Box — objectif de lancement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74920" y="3977640"/>
            <a:ext cx="3703320" cy="804672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074920" y="3977640"/>
            <a:ext cx="640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212080" y="4023360"/>
            <a:ext cx="3429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Accès info agri.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4251960"/>
            <a:ext cx="3429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 40 %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4553712"/>
            <a:ext cx="3429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Agriculteurs sub-sahariens informés en temps réel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— REVENUS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 économique : simple au lancement, scalable ensuite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54864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84048" y="1152144"/>
            <a:ext cx="8375904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— Lancement : Vente du Laafi Box uniquement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55448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84048" y="1554480"/>
            <a:ext cx="1938528" cy="6400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1755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Coût fabrication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993392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25 000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5488" y="2542032"/>
            <a:ext cx="1755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FCFA / unité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42032" y="155448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542032" y="1554480"/>
            <a:ext cx="1938528" cy="6400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633472" y="1664208"/>
            <a:ext cx="1755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Prix de vente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33472" y="1993392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40 000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633472" y="2542032"/>
            <a:ext cx="1755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FCFA / unité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0016" y="155448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700016" y="1554480"/>
            <a:ext cx="1938528" cy="6400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91456" y="1664208"/>
            <a:ext cx="1755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Marge brute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91456" y="1993392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~40 %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791456" y="2542032"/>
            <a:ext cx="1755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 appareil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155448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858000" y="1554480"/>
            <a:ext cx="1938528" cy="64008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949440" y="1664208"/>
            <a:ext cx="1755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Objectif An 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49440" y="1993392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 unités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49440" y="2542032"/>
            <a:ext cx="17556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ONG &amp; coopératives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3090672"/>
            <a:ext cx="8375904" cy="54864"/>
          </a:xfrm>
          <a:prstGeom prst="rect">
            <a:avLst/>
          </a:prstGeom>
          <a:solidFill>
            <a:srgbClr val="1BA37A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84048" y="3163824"/>
            <a:ext cx="8375904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&amp; 3 — Revenus complémentaires à partir de l'An 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3566160"/>
            <a:ext cx="263347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84048" y="3566160"/>
            <a:ext cx="64008" cy="120700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48640" y="3630168"/>
            <a:ext cx="235915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Freemium App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3959352"/>
            <a:ext cx="23591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Abonnement mensuel : accès aux experts et fiches techniques avancées. Cible : agriculteurs connectés.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36976" y="3566160"/>
            <a:ext cx="263347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236976" y="3566160"/>
            <a:ext cx="64008" cy="120700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401568" y="3630168"/>
            <a:ext cx="235915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Licences Géodatabase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401568" y="3959352"/>
            <a:ext cx="23591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Données épidémiologiques anonymisées. Clients : ONG, Ministère, assurances, semenciers.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9904" y="3566160"/>
            <a:ext cx="263347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089904" y="3566160"/>
            <a:ext cx="64008" cy="120700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254496" y="3630168"/>
            <a:ext cx="2359152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Publicité ciblée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254496" y="3959352"/>
            <a:ext cx="2359152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Espaces in-app non-intrusifs. Fournisseurs d'intrants, microfinance, vendeurs d'outillage.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— 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de développement sur 36 mois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5486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536192" y="1207008"/>
            <a:ext cx="256032" cy="256032"/>
          </a:xfrm>
          <a:prstGeom prst="ellipse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– 12 mois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2651760" cy="2816352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2651760" cy="6400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66928" y="1938528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Lancement Terrain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395728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Laafi Box fonctionnel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816352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Constitution dataset maladies locales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236976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 unités vendues via ONG &amp; coopératives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365760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pilotes région Ouagadougou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4078224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Partenariats coopératives agricoles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0" y="1207008"/>
            <a:ext cx="256032" cy="256032"/>
          </a:xfrm>
          <a:prstGeom prst="ellipse">
            <a:avLst/>
          </a:prstGeom>
          <a:solidFill>
            <a:srgbClr val="1BA37A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310128" y="148132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A3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– 24 mois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1810512"/>
            <a:ext cx="2651760" cy="2816352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310128" y="1810512"/>
            <a:ext cx="2651760" cy="64008"/>
          </a:xfrm>
          <a:prstGeom prst="rect">
            <a:avLst/>
          </a:prstGeom>
          <a:solidFill>
            <a:srgbClr val="1BA37A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19856" y="1938528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Lancement Digital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9856" y="2395728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A3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Déploiement application mobile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19856" y="2816352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A3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Géodatabase enrichie par les terrains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19856" y="3236976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A3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 freemium + licences ONG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19856" y="365760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A3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Objectif : 5 000 utilisateurs actifs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19856" y="4078224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A3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Partenariats ministères &amp; bailleurs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42048" y="1207008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163056" y="1481328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 – 36 mois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63056" y="1810512"/>
            <a:ext cx="2651760" cy="2816352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163056" y="1810512"/>
            <a:ext cx="265176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72784" y="1938528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Extension Régionale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72784" y="2395728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Expansion : Niger, Mali, Sénégal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72784" y="2816352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Laafi Box v2 — améliorations terrain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72784" y="3236976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Publicité ciblée in-app activée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72784" y="3657600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50 000+ utilisateurs cumulés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72784" y="4078224"/>
            <a:ext cx="2423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Levée de fonds Série A envisagée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— FINANCE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Projections financières réalistes — 3 scénarios</a:t>
            </a:r>
            <a:endParaRPr lang="en-US" sz="2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3492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25312" y="1115568"/>
            <a:ext cx="28529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925312" y="1115568"/>
            <a:ext cx="64008" cy="786384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053328" y="1161288"/>
            <a:ext cx="263347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Investissement initial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53328" y="1389888"/>
            <a:ext cx="26334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 M FCFA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53328" y="1700784"/>
            <a:ext cx="263347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R&amp;D+proto 12M · IA+logiciel 6M · Terrain 5M · Salaires 4,5M · Admin 2,5M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925312" y="2048256"/>
            <a:ext cx="28529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925312" y="2048256"/>
            <a:ext cx="64008" cy="786384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053328" y="2093976"/>
            <a:ext cx="263347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 An 1 (150 Laafi Box)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53328" y="2322576"/>
            <a:ext cx="26334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M FCFA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53328" y="2633472"/>
            <a:ext cx="263347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Prix vente 40 000 FCFA / unité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925312" y="2980944"/>
            <a:ext cx="28529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5925312" y="2980944"/>
            <a:ext cx="64008" cy="786384"/>
          </a:xfrm>
          <a:prstGeom prst="rect">
            <a:avLst/>
          </a:prstGeom>
          <a:solidFill>
            <a:srgbClr val="1BA37A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6053328" y="3026664"/>
            <a:ext cx="263347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Marge brute An 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53328" y="3255264"/>
            <a:ext cx="26334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~40 %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53328" y="3566160"/>
            <a:ext cx="263347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Coût fabrication estimé 25 000 FCFA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925312" y="3913632"/>
            <a:ext cx="28529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5925312" y="3913632"/>
            <a:ext cx="64008" cy="786384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053328" y="3959352"/>
            <a:ext cx="2633472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Seuil de rentabilité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53328" y="4187952"/>
            <a:ext cx="26334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mois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053328" y="4498848"/>
            <a:ext cx="263347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Modèle conservative, sans subvention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 Projections conservatives. Subventions institutionnelles non incluses dans ces estimations.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— IMPACT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social &amp; environnemental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572768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64008" cy="157276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35024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801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Pour les agriculteurs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1810512"/>
            <a:ext cx="38862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Réduction des pertes de récoltes par diagnostic instantané. Sécurisation des revenus de 2 millions d'exploitations familiales burkinabè, y compris les femmes rurales.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46320" y="1170432"/>
            <a:ext cx="4160520" cy="1572768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846320" y="1170432"/>
            <a:ext cx="64008" cy="1572768"/>
          </a:xfrm>
          <a:prstGeom prst="rect">
            <a:avLst/>
          </a:prstGeom>
          <a:solidFill>
            <a:srgbClr val="1BA37A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335024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280160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Pour les experts agronomes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10912" y="1810512"/>
            <a:ext cx="38862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Automatisation des tâches de routine. Cartographie temps réel des foyers de maladies. Capacité d'intervention décuplée sur le terrain.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65760" y="2926080"/>
            <a:ext cx="4160520" cy="1572768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365760" y="2926080"/>
            <a:ext cx="6400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90672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035808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Pour les communautés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30352" y="3566160"/>
            <a:ext cx="38862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Connexion directe producteurs ↔ experts. Inclusion des jeunes et des femmes sans formation technique. Résilience collective renforcée.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46320" y="2926080"/>
            <a:ext cx="4160520" cy="1572768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846320" y="2926080"/>
            <a:ext cx="64008" cy="157276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090672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035808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Pour le Burkina Faso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10912" y="3566160"/>
            <a:ext cx="388620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Souveraineté alimentaire et numérique. Modernisation du secteur employant 80 % de la population. Actif national de données agricoles locales.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solidFill>
            <a:srgbClr val="0D7A5F">
              <a:alpha val="60000"/>
            </a:srgbClr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365760" y="4681728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Aligné ODD : #1 Pas de pauvreté · #2 Faim Zéro · #13 Action Climat · #17 Partenariats pour les objectifs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3B2E"/>
          </a:solidFill>
          <a:ln w="12700">
            <a:solidFill>
              <a:srgbClr val="0D3B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2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ÉQUIPE — 4 MEMBRES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L'équipe fondatrice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membres · Agronomie · Ingénierie · IA · Gestion de projet — ancrés dans la réalité burkinabè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97280" y="141732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097280" y="1417320"/>
            <a:ext cx="3474720" cy="73152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377440" y="1572768"/>
            <a:ext cx="914400" cy="914400"/>
          </a:xfrm>
          <a:prstGeom prst="ellipse">
            <a:avLst/>
          </a:prstGeom>
          <a:solidFill>
            <a:srgbClr val="0D7A5F">
              <a:alpha val="75000"/>
            </a:srgbClr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709928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587752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Fayçal Nacoulma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292608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Co-fondateur · Ingénieur Agronome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280160" y="3310128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Agronomie &amp; pathologies végétales locales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280160" y="3621024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Connaissance terrain Burkina Faso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80160" y="393192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scientifique des modèles IA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280160" y="4242816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Réseau coopératives &amp; validation terrain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394960" y="1417320"/>
            <a:ext cx="3474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5394960" y="1417320"/>
            <a:ext cx="3474720" cy="73152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675120" y="1572768"/>
            <a:ext cx="914400" cy="914400"/>
          </a:xfrm>
          <a:prstGeom prst="ellipse">
            <a:avLst/>
          </a:prstGeom>
          <a:solidFill>
            <a:srgbClr val="7EC845">
              <a:alpha val="75000"/>
            </a:srgbClr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709928"/>
            <a:ext cx="640080" cy="6400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2587752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Larissa Conseiga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32120" y="2926080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D7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Co-fondatrice · Cheffe de projet · Ingénieure 2iE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577840" y="3310128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3e année Bachelor of Engineering — 2iE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577840" y="3621024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technique &amp; développement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577840" y="393192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 de projet &amp; modélisation financière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577840" y="4242816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</a:t>
            </a:r>
            <a:r>
              <a:rPr lang="en-US" sz="950" dirty="0">
                <a:solidFill>
                  <a:srgbClr val="5A6A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Coordination équipe : Alfred BIAM (ingénierie) &amp; Aiman Koné (IA, 2iE)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— Business Plan Confidentiel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5285232" cy="514350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484632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Rejoignez la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révolution agricole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africaine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69748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C8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AgroLaafi : l'IA au service des paysans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27832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larissacherifa7@gmail.com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3703320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Ouagadougou, Burkina Faso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4041648"/>
            <a:ext cx="4572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3560" y="1097280"/>
            <a:ext cx="3154680" cy="1115568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623560" y="1097280"/>
            <a:ext cx="64008" cy="111556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188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99632" y="1170432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Programme SEF — 2iE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715000" y="1600200"/>
            <a:ext cx="29443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Accélérateur pour passer du prototype au produit, avec mentorat, réseau et accompagnement.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623560" y="2395728"/>
            <a:ext cx="3154680" cy="1115568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5623560" y="2395728"/>
            <a:ext cx="64008" cy="111556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48716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9632" y="2468880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Partenaires institutionnels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715000" y="2898648"/>
            <a:ext cx="29443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Ministères, ONG, bailleurs — cofinancer et distribuer le Laafi Box dans les coopératives.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623560" y="3694176"/>
            <a:ext cx="3154680" cy="1115568"/>
          </a:xfrm>
          <a:prstGeom prst="rect">
            <a:avLst/>
          </a:prstGeom>
          <a:solidFill>
            <a:srgbClr val="163D2E"/>
          </a:solidFill>
          <a:ln w="12700">
            <a:solidFill>
              <a:srgbClr val="1BA3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5623560" y="3694176"/>
            <a:ext cx="64008" cy="1115568"/>
          </a:xfrm>
          <a:prstGeom prst="rect">
            <a:avLst/>
          </a:prstGeom>
          <a:solidFill>
            <a:srgbClr val="7EC845"/>
          </a:solidFill>
          <a:ln w="12700">
            <a:solidFill>
              <a:srgbClr val="7EC8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3785616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99632" y="3767328"/>
            <a:ext cx="2468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Investisseurs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715000" y="4197096"/>
            <a:ext cx="29443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F9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40 % de marge brute, 2M d'exploitations cibles, scalable à toute l'Afrique de l'Ouest.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F18"/>
          </a:solidFill>
          <a:ln w="12700">
            <a:solidFill>
              <a:srgbClr val="091F1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0"/>
          <p:cNvSpPr/>
          <p:nvPr/>
        </p:nvSpPr>
        <p:spPr>
          <a:xfrm>
            <a:off x="274320" y="4782312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© 2026 AgroLaafi — Document Confidentiel</a:t>
            </a:r>
            <a:endParaRPr lang="en-US" sz="8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1.2,&quot;left&quot;:453.6,&quot;top&quot;:36,&quot;width&quot;:241.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8.56000000000006,&quot;left&quot;:32.4,&quot;top&quot;:93.6,&quot;width&quot;:68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1224</Words>
  <Application>Microsoft Office PowerPoint</Application>
  <PresentationFormat>Affichage à l'écran (16:9)</PresentationFormat>
  <Paragraphs>226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AgroLaafi — Business Plan 2026</dc:title>
  <dc:subject>PptxGenJS Presentation</dc:subject>
  <dc:creator>PptxGenJS</dc:creator>
  <cp:lastModifiedBy>CONSEIGA Cherifatou Pengdwende larissa</cp:lastModifiedBy>
  <cp:revision>3</cp:revision>
  <dcterms:created xsi:type="dcterms:W3CDTF">2026-03-28T17:46:00Z</dcterms:created>
  <dcterms:modified xsi:type="dcterms:W3CDTF">2026-03-29T20:32:38Z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B08F95E5C745412C86900874EA9B2871_12</vt:lpwstr>
  </property>
  <property fmtid="{D5CDD505-2E9C-101B-9397-08002B2CF9AE}" pid="3" name="KSOProductBuildVer">
    <vt:lpwstr>1033-12.2.0.23196</vt:lpwstr>
  </property>
</Properties>
</file>